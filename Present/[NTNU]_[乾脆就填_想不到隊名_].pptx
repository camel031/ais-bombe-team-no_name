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Urbanist Light"/>
      <p:regular r:id="rId28"/>
      <p:bold r:id="rId29"/>
      <p:italic r:id="rId30"/>
      <p:boldItalic r:id="rId31"/>
    </p:embeddedFont>
    <p:embeddedFont>
      <p:font typeface="Urbanist Medium"/>
      <p:regular r:id="rId32"/>
      <p:bold r:id="rId33"/>
      <p:italic r:id="rId34"/>
      <p:boldItalic r:id="rId35"/>
    </p:embeddedFont>
    <p:embeddedFont>
      <p:font typeface="Urbanist SemiBold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20" Type="http://schemas.openxmlformats.org/officeDocument/2006/relationships/slide" Target="slides/slide14.xml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Urbanis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UrbanistLigh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Light-boldItalic.fntdata"/><Relationship Id="rId30" Type="http://schemas.openxmlformats.org/officeDocument/2006/relationships/font" Target="fonts/UrbanistLight-italic.fntdata"/><Relationship Id="rId11" Type="http://schemas.openxmlformats.org/officeDocument/2006/relationships/slide" Target="slides/slide5.xml"/><Relationship Id="rId33" Type="http://schemas.openxmlformats.org/officeDocument/2006/relationships/font" Target="fonts/UrbanistMedium-bold.fntdata"/><Relationship Id="rId10" Type="http://schemas.openxmlformats.org/officeDocument/2006/relationships/slide" Target="slides/slide4.xml"/><Relationship Id="rId32" Type="http://schemas.openxmlformats.org/officeDocument/2006/relationships/font" Target="fonts/UrbanistMedium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Medium-italic.fntdata"/><Relationship Id="rId15" Type="http://schemas.openxmlformats.org/officeDocument/2006/relationships/slide" Target="slides/slide9.xml"/><Relationship Id="rId37" Type="http://schemas.openxmlformats.org/officeDocument/2006/relationships/font" Target="fonts/UrbanistSemiBold-bold.fntdata"/><Relationship Id="rId14" Type="http://schemas.openxmlformats.org/officeDocument/2006/relationships/slide" Target="slides/slide8.xml"/><Relationship Id="rId36" Type="http://schemas.openxmlformats.org/officeDocument/2006/relationships/font" Target="fonts/Urbanist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Urbanist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Urbanist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b1c6b02ad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b1c6b02ad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1c6b02ad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b1c6b02ad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1c6b02adb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1c6b02adb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1c6b02adb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b1c6b02adb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1c6b02adb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1c6b02adb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1c6b02adb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b1c6b02adb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1c6b02adb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b1c6b02adb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b1c6b02adb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b1c6b02adb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1c6b02adb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b1c6b02adb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b1c6b02adb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b1c6b02adb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1c6b02adb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b1c6b02adb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b1c6b02adb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b1c6b02adb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1c6b02adb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1c6b02adb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1c6b02adb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b1c6b02adb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1c6b02adb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b1c6b02adb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1c6b02adb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b1c6b02adb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b1c6b02adb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b1c6b02adb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b1c6b02adb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b1c6b02adb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1c6b02adb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b1c6b02adb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演進脈絡 (Evolution)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舊版雖然定義了 Delegate，但在程式開頭仍保留了大量 [DllImport("kernel32")] 的靜態宣告。這導致 OpenProcess、VirtualQueryEx、ReadProcessMemory 等敏感 API 直接暴露在 Import Address Table (IAT) 中。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後果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靜態分析工具 (如 PEStudio, IDA) 能一眼看出程式具備「讀取記憶體」與「注入行程」的能力，立即被標記為惡意程式。</a:t>
            </a:r>
            <a:endParaRPr sz="14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改進技術 (Technique)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移除靜態引用 (Removal of P/Invoke)：移除了除 LoadLibrary 與 GetProcAddress 以外的所有 Win32 API 靜態宣告。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動態解析 (Dynamic Resolution)：在執行時期 (Runtime) 才透過 LoadLibrary + GetProcAddress 取得函數位址。</a:t>
            </a:r>
            <a:b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</a:br>
            <a:r>
              <a:rPr lang="zh-TW" sz="1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將 Delegate 定義與函數指標變數名稱 (e.g., _f1, _f2...) 進行無意義化混淆，徹底隱藏 API 引用特徵。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1c6b02adb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b1c6b02adb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b1c6b02adb_3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b1c6b02adb_3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65374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idx="8" type="subTitle"/>
          </p:nvPr>
        </p:nvSpPr>
        <p:spPr>
          <a:xfrm>
            <a:off x="228591" y="3365557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>
                <a:latin typeface="Urbanist Medium"/>
                <a:ea typeface="Urbanist Medium"/>
                <a:cs typeface="Urbanist Medium"/>
                <a:sym typeface="Urbanist Medium"/>
              </a:rPr>
              <a:t>Presented by</a:t>
            </a:r>
            <a:endParaRPr b="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228600" y="36986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4" name="Google Shape;484;p53"/>
          <p:cNvSpPr/>
          <p:nvPr/>
        </p:nvSpPr>
        <p:spPr>
          <a:xfrm>
            <a:off x="1719175" y="36986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5" name="Google Shape;485;p53"/>
          <p:cNvSpPr txBox="1"/>
          <p:nvPr>
            <p:ph type="title"/>
          </p:nvPr>
        </p:nvSpPr>
        <p:spPr>
          <a:xfrm>
            <a:off x="192900" y="1152750"/>
            <a:ext cx="91773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TW" sz="36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AIS Final: </a:t>
            </a:r>
            <a:endParaRPr sz="36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TW" sz="36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36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486" name="Google Shape;486;p53"/>
          <p:cNvSpPr txBox="1"/>
          <p:nvPr>
            <p:ph idx="2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487" name="Google Shape;487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488" name="Google Shape;488;p53"/>
          <p:cNvSpPr txBox="1"/>
          <p:nvPr>
            <p:ph idx="5" type="subTitle"/>
          </p:nvPr>
        </p:nvSpPr>
        <p:spPr>
          <a:xfrm>
            <a:off x="297075" y="3698675"/>
            <a:ext cx="12648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Urbanist Light"/>
                <a:ea typeface="Urbanist Light"/>
                <a:cs typeface="Urbanist Light"/>
                <a:sym typeface="Urbanist Light"/>
              </a:rPr>
              <a:t>61447027S 蕭宣昱</a:t>
            </a:r>
            <a:endParaRPr sz="11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grpSp>
        <p:nvGrpSpPr>
          <p:cNvPr id="489" name="Google Shape;489;p53"/>
          <p:cNvGrpSpPr/>
          <p:nvPr/>
        </p:nvGrpSpPr>
        <p:grpSpPr>
          <a:xfrm>
            <a:off x="1173649" y="3337812"/>
            <a:ext cx="233094" cy="233094"/>
            <a:chOff x="259788" y="1923155"/>
            <a:chExt cx="409800" cy="409800"/>
          </a:xfrm>
        </p:grpSpPr>
        <p:sp>
          <p:nvSpPr>
            <p:cNvPr id="490" name="Google Shape;490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1" name="Google Shape;491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2" name="Google Shape;492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3" name="Google Shape;493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94" name="Google Shape;494;p53"/>
          <p:cNvSpPr txBox="1"/>
          <p:nvPr>
            <p:ph idx="6" type="subTitle"/>
          </p:nvPr>
        </p:nvSpPr>
        <p:spPr>
          <a:xfrm>
            <a:off x="1786375" y="3698800"/>
            <a:ext cx="12648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Urbanist Light"/>
                <a:ea typeface="Urbanist Light"/>
                <a:cs typeface="Urbanist Light"/>
                <a:sym typeface="Urbanist Light"/>
              </a:rPr>
              <a:t>61447099S 黃奕喆</a:t>
            </a:r>
            <a:endParaRPr sz="11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495" name="Google Shape;495;p53"/>
          <p:cNvSpPr/>
          <p:nvPr/>
        </p:nvSpPr>
        <p:spPr>
          <a:xfrm>
            <a:off x="246838" y="41660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6" name="Google Shape;496;p53"/>
          <p:cNvSpPr/>
          <p:nvPr/>
        </p:nvSpPr>
        <p:spPr>
          <a:xfrm>
            <a:off x="1719163" y="4172888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7" name="Google Shape;497;p53"/>
          <p:cNvSpPr txBox="1"/>
          <p:nvPr>
            <p:ph idx="6" type="subTitle"/>
          </p:nvPr>
        </p:nvSpPr>
        <p:spPr>
          <a:xfrm>
            <a:off x="314050" y="4165150"/>
            <a:ext cx="12648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Urbanist Light"/>
                <a:ea typeface="Urbanist Light"/>
                <a:cs typeface="Urbanist Light"/>
                <a:sym typeface="Urbanist Light"/>
              </a:rPr>
              <a:t>41143203S 黃以謙</a:t>
            </a:r>
            <a:endParaRPr sz="11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498" name="Google Shape;498;p53"/>
          <p:cNvSpPr txBox="1"/>
          <p:nvPr>
            <p:ph idx="6" type="subTitle"/>
          </p:nvPr>
        </p:nvSpPr>
        <p:spPr>
          <a:xfrm>
            <a:off x="1791300" y="4165150"/>
            <a:ext cx="12648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latin typeface="Urbanist Light"/>
                <a:ea typeface="Urbanist Light"/>
                <a:cs typeface="Urbanist Light"/>
                <a:sym typeface="Urbanist Light"/>
              </a:rPr>
              <a:t>61347001S 李家維</a:t>
            </a:r>
            <a:endParaRPr sz="11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/>
          <p:nvPr/>
        </p:nvSpPr>
        <p:spPr>
          <a:xfrm>
            <a:off x="2286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04" name="Google Shape;504;p54"/>
          <p:cNvSpPr/>
          <p:nvPr/>
        </p:nvSpPr>
        <p:spPr>
          <a:xfrm>
            <a:off x="24237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05" name="Google Shape;505;p54"/>
          <p:cNvSpPr/>
          <p:nvPr/>
        </p:nvSpPr>
        <p:spPr>
          <a:xfrm>
            <a:off x="46188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06" name="Google Shape;506;p54"/>
          <p:cNvSpPr/>
          <p:nvPr/>
        </p:nvSpPr>
        <p:spPr>
          <a:xfrm>
            <a:off x="6813900" y="1672025"/>
            <a:ext cx="2101200" cy="27807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07" name="Google Shape;507;p54"/>
          <p:cNvSpPr txBox="1"/>
          <p:nvPr>
            <p:ph idx="5" type="subTitle"/>
          </p:nvPr>
        </p:nvSpPr>
        <p:spPr>
          <a:xfrm>
            <a:off x="454675" y="2333229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latin typeface="Urbanist Light"/>
                <a:ea typeface="Urbanist Light"/>
                <a:cs typeface="Urbanist Light"/>
                <a:sym typeface="Urbanist Light"/>
              </a:rPr>
              <a:t>蕭宣昱</a:t>
            </a:r>
            <a:endParaRPr sz="17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08" name="Google Shape;508;p54"/>
          <p:cNvSpPr txBox="1"/>
          <p:nvPr>
            <p:ph idx="6" type="subTitle"/>
          </p:nvPr>
        </p:nvSpPr>
        <p:spPr>
          <a:xfrm>
            <a:off x="436025" y="265856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Urbanist Light"/>
                <a:ea typeface="Urbanist Light"/>
                <a:cs typeface="Urbanist Light"/>
                <a:sym typeface="Urbanist Light"/>
              </a:rPr>
              <a:t>EDR題目 + EDR改進</a:t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09" name="Google Shape;509;p54"/>
          <p:cNvSpPr txBox="1"/>
          <p:nvPr>
            <p:ph idx="7" type="body"/>
          </p:nvPr>
        </p:nvSpPr>
        <p:spPr>
          <a:xfrm>
            <a:off x="436025" y="2966473"/>
            <a:ext cx="1761900" cy="7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1626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Light"/>
              <a:buChar char="○"/>
            </a:pPr>
            <a:r>
              <a:rPr lang="zh-TW" sz="1200">
                <a:latin typeface="Urbanist Light"/>
                <a:ea typeface="Urbanist Light"/>
                <a:cs typeface="Urbanist Light"/>
                <a:sym typeface="Urbanist Light"/>
              </a:rPr>
              <a:t>實作 EDR 題目</a:t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62600" lvl="0" marL="316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Light"/>
              <a:buChar char="○"/>
            </a:pPr>
            <a:r>
              <a:rPr lang="zh-TW" sz="1200">
                <a:latin typeface="Urbanist Light"/>
                <a:ea typeface="Urbanist Light"/>
                <a:cs typeface="Urbanist Light"/>
                <a:sym typeface="Urbanist Light"/>
              </a:rPr>
              <a:t>改進 Battle EDR</a:t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0" name="Google Shape;510;p54"/>
          <p:cNvSpPr txBox="1"/>
          <p:nvPr>
            <p:ph idx="9" type="subTitle"/>
          </p:nvPr>
        </p:nvSpPr>
        <p:spPr>
          <a:xfrm>
            <a:off x="2649775" y="2333234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Urbanist Light"/>
                <a:ea typeface="Urbanist Light"/>
                <a:cs typeface="Urbanist Light"/>
                <a:sym typeface="Urbanist Light"/>
              </a:rPr>
              <a:t>黃奕喆</a:t>
            </a:r>
            <a:endParaRPr sz="1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1" name="Google Shape;511;p54"/>
          <p:cNvSpPr txBox="1"/>
          <p:nvPr>
            <p:ph idx="13" type="subTitle"/>
          </p:nvPr>
        </p:nvSpPr>
        <p:spPr>
          <a:xfrm>
            <a:off x="2631125" y="265856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Urbanist Light"/>
                <a:ea typeface="Urbanist Light"/>
                <a:cs typeface="Urbanist Light"/>
                <a:sym typeface="Urbanist Light"/>
              </a:rPr>
              <a:t>EDR題目 </a:t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2" name="Google Shape;512;p54"/>
          <p:cNvSpPr txBox="1"/>
          <p:nvPr>
            <p:ph idx="16" type="subTitle"/>
          </p:nvPr>
        </p:nvSpPr>
        <p:spPr>
          <a:xfrm>
            <a:off x="4844875" y="2333234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Urbanist Light"/>
                <a:ea typeface="Urbanist Light"/>
                <a:cs typeface="Urbanist Light"/>
                <a:sym typeface="Urbanist Light"/>
              </a:rPr>
              <a:t>黃以謙</a:t>
            </a:r>
            <a:endParaRPr sz="1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3" name="Google Shape;513;p54"/>
          <p:cNvSpPr txBox="1"/>
          <p:nvPr>
            <p:ph idx="17" type="subTitle"/>
          </p:nvPr>
        </p:nvSpPr>
        <p:spPr>
          <a:xfrm>
            <a:off x="4826225" y="265856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latin typeface="Urbanist Light"/>
                <a:ea typeface="Urbanist Light"/>
                <a:cs typeface="Urbanist Light"/>
                <a:sym typeface="Urbanist Light"/>
              </a:rPr>
              <a:t>Malware改進</a:t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4" name="Google Shape;514;p54"/>
          <p:cNvSpPr txBox="1"/>
          <p:nvPr>
            <p:ph idx="20" type="subTitle"/>
          </p:nvPr>
        </p:nvSpPr>
        <p:spPr>
          <a:xfrm>
            <a:off x="7039975" y="2333234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Urbanist Light"/>
                <a:ea typeface="Urbanist Light"/>
                <a:cs typeface="Urbanist Light"/>
                <a:sym typeface="Urbanist Light"/>
              </a:rPr>
              <a:t>李家維</a:t>
            </a:r>
            <a:endParaRPr sz="18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5" name="Google Shape;515;p54"/>
          <p:cNvSpPr txBox="1"/>
          <p:nvPr>
            <p:ph idx="21" type="subTitle"/>
          </p:nvPr>
        </p:nvSpPr>
        <p:spPr>
          <a:xfrm>
            <a:off x="7021325" y="265856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Urbanist Light"/>
                <a:ea typeface="Urbanist Light"/>
                <a:cs typeface="Urbanist Light"/>
                <a:sym typeface="Urbanist Light"/>
              </a:rPr>
              <a:t>環境架設 + Malware題目</a:t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6" name="Google Shape;516;p54"/>
          <p:cNvSpPr txBox="1"/>
          <p:nvPr>
            <p:ph idx="1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7" name="Google Shape;517;p5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8" name="Google Shape;518;p54"/>
          <p:cNvSpPr txBox="1"/>
          <p:nvPr>
            <p:ph idx="4294967295" type="title"/>
          </p:nvPr>
        </p:nvSpPr>
        <p:spPr>
          <a:xfrm>
            <a:off x="307275" y="188550"/>
            <a:ext cx="3904500" cy="5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Urbanist Light"/>
                <a:ea typeface="Urbanist Light"/>
                <a:cs typeface="Urbanist Light"/>
                <a:sym typeface="Urbanist Light"/>
              </a:rPr>
              <a:t>專題分工</a:t>
            </a:r>
            <a:endParaRPr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19" name="Google Shape;519;p54"/>
          <p:cNvSpPr txBox="1"/>
          <p:nvPr>
            <p:ph idx="7" type="body"/>
          </p:nvPr>
        </p:nvSpPr>
        <p:spPr>
          <a:xfrm>
            <a:off x="2631188" y="2983998"/>
            <a:ext cx="1761900" cy="7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1626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Light"/>
              <a:buChar char="○"/>
            </a:pPr>
            <a:r>
              <a:rPr lang="zh-TW" sz="1200">
                <a:latin typeface="Urbanist Light"/>
                <a:ea typeface="Urbanist Light"/>
                <a:cs typeface="Urbanist Light"/>
                <a:sym typeface="Urbanist Light"/>
              </a:rPr>
              <a:t>實作 EDR 題目</a:t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20" name="Google Shape;520;p54"/>
          <p:cNvSpPr txBox="1"/>
          <p:nvPr>
            <p:ph idx="7" type="body"/>
          </p:nvPr>
        </p:nvSpPr>
        <p:spPr>
          <a:xfrm>
            <a:off x="4826363" y="2983998"/>
            <a:ext cx="1761900" cy="7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1626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Light"/>
              <a:buChar char="○"/>
            </a:pPr>
            <a:r>
              <a:rPr lang="zh-TW" sz="1200">
                <a:latin typeface="Urbanist Light"/>
                <a:ea typeface="Urbanist Light"/>
                <a:cs typeface="Urbanist Light"/>
                <a:sym typeface="Urbanist Light"/>
              </a:rPr>
              <a:t>改進 Battle Malware</a:t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21" name="Google Shape;521;p54"/>
          <p:cNvSpPr txBox="1"/>
          <p:nvPr>
            <p:ph idx="7" type="body"/>
          </p:nvPr>
        </p:nvSpPr>
        <p:spPr>
          <a:xfrm>
            <a:off x="7021538" y="2958948"/>
            <a:ext cx="1761900" cy="7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1626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Light"/>
              <a:buChar char="○"/>
            </a:pPr>
            <a:r>
              <a:rPr lang="zh-TW" sz="1200">
                <a:latin typeface="Urbanist Light"/>
                <a:ea typeface="Urbanist Light"/>
                <a:cs typeface="Urbanist Light"/>
                <a:sym typeface="Urbanist Light"/>
              </a:rPr>
              <a:t>環境架設</a:t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626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Urbanist Light"/>
              <a:buChar char="○"/>
            </a:pPr>
            <a:r>
              <a:rPr lang="zh-TW" sz="1200">
                <a:latin typeface="Urbanist Light"/>
                <a:ea typeface="Urbanist Light"/>
                <a:cs typeface="Urbanist Light"/>
                <a:sym typeface="Urbanist Light"/>
              </a:rPr>
              <a:t>實作 Malware 題目</a:t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5"/>
          <p:cNvSpPr txBox="1"/>
          <p:nvPr>
            <p:ph idx="1" type="body"/>
          </p:nvPr>
        </p:nvSpPr>
        <p:spPr>
          <a:xfrm>
            <a:off x="374700" y="1317625"/>
            <a:ext cx="4098000" cy="24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Malware行為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：在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Simple Malware 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中，他會直接嘗試去存取所有 flag 的目錄 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解題策略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：利用 KernelTraceEventParser (ETW) 監聽 Process 的 File I/O 行為，並直接找出存取 </a:t>
            </a:r>
            <a:r>
              <a:rPr lang="zh-TW" sz="1400">
                <a:solidFill>
                  <a:schemeClr val="accent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C:\Users\bombe\AppData\Local\bhrome\Login Data 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路徑的 process，如果該 process 符合命名格式即為 Malware 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27" name="Google Shape;527;p55"/>
          <p:cNvSpPr txBox="1"/>
          <p:nvPr>
            <p:ph type="title"/>
          </p:nvPr>
        </p:nvSpPr>
        <p:spPr>
          <a:xfrm>
            <a:off x="359375" y="99250"/>
            <a:ext cx="75435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偵測Malware (EDR組) -  Simple Malware</a:t>
            </a:r>
            <a:endParaRPr sz="3000"/>
          </a:p>
        </p:txBody>
      </p:sp>
      <p:pic>
        <p:nvPicPr>
          <p:cNvPr id="528" name="Google Shape;52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950" y="1591330"/>
            <a:ext cx="5095099" cy="420325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529" name="Google Shape;529;p55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30" name="Google Shape;530;p55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531" name="Google Shape;53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075" y="2245426"/>
            <a:ext cx="4067313" cy="2330999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6"/>
          <p:cNvSpPr txBox="1"/>
          <p:nvPr>
            <p:ph idx="1" type="body"/>
          </p:nvPr>
        </p:nvSpPr>
        <p:spPr>
          <a:xfrm>
            <a:off x="374700" y="1317625"/>
            <a:ext cx="8539500" cy="21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Malware行為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：在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Bypass File Access Monitor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中，他不會直接存取 flag 的目錄，而是透過 cmd.exe 將 flag 複製到其他地方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解題策略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：一樣利用 KernelTraceEventParser 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(ETW) 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監聽 Process 的 File I/O 行為，找出存取 </a:t>
            </a:r>
            <a:r>
              <a:rPr lang="zh-TW" sz="1400">
                <a:solidFill>
                  <a:schemeClr val="accent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C:\Users\bombe\AppData\Local\bhrome\Login Data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路徑的 process，當偵測到有 process 存取目標路徑時，沿著該 process 的 parent process chain 向上追蹤，直到發現有 process 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ancestor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符合命名格式，該 process 即為 Malware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37" name="Google Shape;537;p56"/>
          <p:cNvSpPr txBox="1"/>
          <p:nvPr>
            <p:ph type="title"/>
          </p:nvPr>
        </p:nvSpPr>
        <p:spPr>
          <a:xfrm>
            <a:off x="359375" y="99250"/>
            <a:ext cx="89274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偵測Malware (EDR組) - Bypass File Access Monitor</a:t>
            </a:r>
            <a:endParaRPr sz="3000"/>
          </a:p>
        </p:txBody>
      </p:sp>
      <p:sp>
        <p:nvSpPr>
          <p:cNvPr id="538" name="Google Shape;538;p56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39" name="Google Shape;539;p5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7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45" name="Google Shape;545;p5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546" name="Google Shape;54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625" y="437525"/>
            <a:ext cx="4168850" cy="4268449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547" name="Google Shape;547;p57"/>
          <p:cNvPicPr preferRelativeResize="0"/>
          <p:nvPr/>
        </p:nvPicPr>
        <p:blipFill rotWithShape="1">
          <a:blip r:embed="rId4">
            <a:alphaModFix/>
          </a:blip>
          <a:srcRect b="0" l="0" r="0" t="17546"/>
          <a:stretch/>
        </p:blipFill>
        <p:spPr>
          <a:xfrm>
            <a:off x="2440625" y="151950"/>
            <a:ext cx="3237775" cy="228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8"/>
          <p:cNvSpPr txBox="1"/>
          <p:nvPr>
            <p:ph idx="1" type="body"/>
          </p:nvPr>
        </p:nvSpPr>
        <p:spPr>
          <a:xfrm>
            <a:off x="374700" y="1317625"/>
            <a:ext cx="8539500" cy="18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思考方向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：已知 Malware 必須透過網路 (HTTPs / Port 443) 將 Flag 回傳至指定伺服器 (</a:t>
            </a:r>
            <a:r>
              <a:rPr lang="zh-TW" sz="1400">
                <a:solidFill>
                  <a:schemeClr val="accent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submit.bombe.top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)，因此我們針對網路通訊行為這方面下手。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設計</a:t>
            </a:r>
            <a:r>
              <a:rPr lang="zh-TW" sz="1400">
                <a:latin typeface="Urbanist Medium"/>
                <a:ea typeface="Urbanist Medium"/>
                <a:cs typeface="Urbanist Medium"/>
                <a:sym typeface="Urbanist Medium"/>
              </a:rPr>
              <a:t>方法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：以前面 Challenge 題程式為基礎，除了保留原本針對檔案的存取監控外，我們新增了針對網路行為的偵測，先透過 KernelTraceEvent 監聽所有 tcp 連線，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並比對該 process 是否符合 Malware 的命名格式，最後確認是否是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透過 Port 443 (HTTPs) 發起的對外連線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53" name="Google Shape;553;p58"/>
          <p:cNvSpPr txBox="1"/>
          <p:nvPr>
            <p:ph type="title"/>
          </p:nvPr>
        </p:nvSpPr>
        <p:spPr>
          <a:xfrm>
            <a:off x="359375" y="99250"/>
            <a:ext cx="89274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偵測Malware (EDR</a:t>
            </a:r>
            <a:r>
              <a:rPr lang="zh-TW" sz="3000"/>
              <a:t>組</a:t>
            </a:r>
            <a:r>
              <a:rPr lang="zh-TW" sz="3000"/>
              <a:t>) - Rank</a:t>
            </a:r>
            <a:endParaRPr sz="3000"/>
          </a:p>
        </p:txBody>
      </p:sp>
      <p:sp>
        <p:nvSpPr>
          <p:cNvPr id="554" name="Google Shape;554;p58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55" name="Google Shape;555;p5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61" name="Google Shape;561;p59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562" name="Google Shape;5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713" y="183050"/>
            <a:ext cx="4520671" cy="4389908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0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躲避 EDR (Malware組) -  Challenge By Blast0FF </a:t>
            </a:r>
            <a:endParaRPr sz="3000"/>
          </a:p>
        </p:txBody>
      </p:sp>
      <p:sp>
        <p:nvSpPr>
          <p:cNvPr id="568" name="Google Shape;568;p60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69" name="Google Shape;569;p60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70" name="Google Shape;570;p60"/>
          <p:cNvSpPr txBox="1"/>
          <p:nvPr>
            <p:ph idx="1" type="body"/>
          </p:nvPr>
        </p:nvSpPr>
        <p:spPr>
          <a:xfrm>
            <a:off x="395100" y="1058649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Brave and no hiding, at all, because I’m brave and running low on time.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Q1 is accessing a </a:t>
            </a:r>
            <a:r>
              <a:rPr lang="zh-TW" sz="1900">
                <a:solidFill>
                  <a:srgbClr val="CE9178"/>
                </a:solidFill>
                <a:highlight>
                  <a:srgbClr val="1F1F1F"/>
                </a:highlight>
                <a:latin typeface="Urbanist Light"/>
                <a:ea typeface="Urbanist Light"/>
                <a:cs typeface="Urbanist Light"/>
                <a:sym typeface="Urbanist Light"/>
              </a:rPr>
              <a:t>Registry</a:t>
            </a: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.</a:t>
            </a:r>
            <a:endParaRPr sz="1900">
              <a:solidFill>
                <a:srgbClr val="CE9178"/>
              </a:solidFill>
              <a:highlight>
                <a:srgbClr val="1F1F1F"/>
              </a:highlight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Q2 is accessing a </a:t>
            </a:r>
            <a:r>
              <a:rPr lang="zh-TW" sz="1900">
                <a:solidFill>
                  <a:srgbClr val="CE9178"/>
                </a:solidFill>
                <a:highlight>
                  <a:srgbClr val="1F1F1F"/>
                </a:highlight>
                <a:latin typeface="Urbanist Light"/>
                <a:ea typeface="Urbanist Light"/>
                <a:cs typeface="Urbanist Light"/>
                <a:sym typeface="Urbanist Light"/>
              </a:rPr>
              <a:t>SQLite + AES</a:t>
            </a: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 and decoding require own secret.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Q3 is requesting </a:t>
            </a:r>
            <a:r>
              <a:rPr lang="zh-TW" sz="1900">
                <a:solidFill>
                  <a:srgbClr val="CE9178"/>
                </a:solidFill>
                <a:highlight>
                  <a:srgbClr val="1F1F1F"/>
                </a:highlight>
                <a:latin typeface="Urbanist Light"/>
                <a:ea typeface="Urbanist Light"/>
                <a:cs typeface="Urbanist Light"/>
                <a:sym typeface="Urbanist Light"/>
              </a:rPr>
              <a:t>bsass</a:t>
            </a: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 to be scanned for flags.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It’s good for hello world EDR, but for the other two, some alts are implemented.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900">
                <a:solidFill>
                  <a:srgbClr val="CE9178"/>
                </a:solidFill>
                <a:highlight>
                  <a:srgbClr val="1F1F1F"/>
                </a:highlight>
                <a:latin typeface="Urbanist Light"/>
                <a:ea typeface="Urbanist Light"/>
                <a:cs typeface="Urbanist Light"/>
                <a:sym typeface="Urbanist Light"/>
              </a:rPr>
              <a:t>SQLite</a:t>
            </a: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 is accessed via a cmd clone to help coping the file.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solidFill>
                  <a:srgbClr val="CE9178"/>
                </a:solidFill>
                <a:highlight>
                  <a:srgbClr val="1F1F1F"/>
                </a:highlight>
                <a:latin typeface="Urbanist Light"/>
                <a:ea typeface="Urbanist Light"/>
                <a:cs typeface="Urbanist Light"/>
                <a:sym typeface="Urbanist Light"/>
              </a:rPr>
              <a:t>proc</a:t>
            </a: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 is used for </a:t>
            </a:r>
            <a:r>
              <a:rPr lang="zh-TW" sz="1900">
                <a:solidFill>
                  <a:srgbClr val="CE9178"/>
                </a:solidFill>
                <a:highlight>
                  <a:srgbClr val="1F1F1F"/>
                </a:highlight>
                <a:latin typeface="Urbanist Light"/>
                <a:ea typeface="Urbanist Light"/>
                <a:cs typeface="Urbanist Light"/>
                <a:sym typeface="Urbanist Light"/>
              </a:rPr>
              <a:t>bsass</a:t>
            </a: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 scan for no visible memory trace.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躲避 EDR (Malware組) -  Challenge By Blast0FF </a:t>
            </a:r>
            <a:endParaRPr sz="3000"/>
          </a:p>
        </p:txBody>
      </p:sp>
      <p:sp>
        <p:nvSpPr>
          <p:cNvPr id="576" name="Google Shape;576;p61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77" name="Google Shape;577;p61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78" name="Google Shape;578;p61"/>
          <p:cNvSpPr txBox="1"/>
          <p:nvPr>
            <p:ph idx="1" type="body"/>
          </p:nvPr>
        </p:nvSpPr>
        <p:spPr>
          <a:xfrm>
            <a:off x="395100" y="872613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latin typeface="Urbanist Light"/>
                <a:ea typeface="Urbanist Light"/>
                <a:cs typeface="Urbanist Light"/>
                <a:sym typeface="Urbanist Light"/>
              </a:rPr>
              <a:t>The Implementation of cmd clone in Challenge Q2</a:t>
            </a:r>
            <a:endParaRPr sz="19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579" name="Google Shape;579;p61"/>
          <p:cNvPicPr preferRelativeResize="0"/>
          <p:nvPr/>
        </p:nvPicPr>
        <p:blipFill rotWithShape="1">
          <a:blip r:embed="rId3">
            <a:alphaModFix/>
          </a:blip>
          <a:srcRect b="21644" l="0" r="0" t="5057"/>
          <a:stretch/>
        </p:blipFill>
        <p:spPr>
          <a:xfrm>
            <a:off x="2339850" y="1370527"/>
            <a:ext cx="4464300" cy="3078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2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</a:t>
            </a:r>
            <a:r>
              <a:rPr lang="zh-TW" sz="3000"/>
              <a:t> (Static) - </a:t>
            </a:r>
            <a:r>
              <a:rPr lang="zh-TW" sz="3000"/>
              <a:t>String Encryption</a:t>
            </a:r>
            <a:endParaRPr sz="3000"/>
          </a:p>
        </p:txBody>
      </p:sp>
      <p:sp>
        <p:nvSpPr>
          <p:cNvPr id="585" name="Google Shape;585;p62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86" name="Google Shape;586;p6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587" name="Google Shape;5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922" y="1325159"/>
            <a:ext cx="3830787" cy="24783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588" name="Google Shape;588;p62"/>
          <p:cNvSpPr txBox="1"/>
          <p:nvPr>
            <p:ph idx="1" type="body"/>
          </p:nvPr>
        </p:nvSpPr>
        <p:spPr>
          <a:xfrm>
            <a:off x="374700" y="1317625"/>
            <a:ext cx="4150500" cy="24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改進重點：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套用靜態分析規則時，避免被抓到 “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OpenProcess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" , “</a:t>
            </a:r>
            <a:r>
              <a:rPr lang="zh-TW" sz="1400">
                <a:solidFill>
                  <a:srgbClr val="DD7E6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https://submit.bombe.top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” 等等敏感字串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開發時：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字串與 Key 進行 XOR 運算 -&gt; 轉成 Base64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Runtime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先將 Base64 Decode -&gt; 將字串與 Key 再次 XOR 回原字串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3"/>
          <p:cNvSpPr txBox="1"/>
          <p:nvPr>
            <p:ph idx="1" type="body"/>
          </p:nvPr>
        </p:nvSpPr>
        <p:spPr>
          <a:xfrm>
            <a:off x="374700" y="1317625"/>
            <a:ext cx="4150500" cy="28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改進重點：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程式開頭有大量 [DllImport("kernel32")] 的靜態宣告。導致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OpenProcess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、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VirtualQueryEx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、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ReadProcessMemory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等特徵 API 直接暴露在 Import Address Table (IAT) 中。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移除靜態引用 (Removal of P/Invoke)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API 動態解析 (Dynamic Resolution)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Runtime 透過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LoadLibrary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+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GetProcAddress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取得函數位址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94" name="Google Shape;594;p63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(Static) - IAT Hiding</a:t>
            </a:r>
            <a:endParaRPr sz="3000"/>
          </a:p>
        </p:txBody>
      </p:sp>
      <p:sp>
        <p:nvSpPr>
          <p:cNvPr id="595" name="Google Shape;595;p63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596" name="Google Shape;596;p6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597" name="Google Shape;59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600" y="1317625"/>
            <a:ext cx="4363749" cy="198635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4"/>
          <p:cNvSpPr txBox="1"/>
          <p:nvPr>
            <p:ph idx="1" type="body"/>
          </p:nvPr>
        </p:nvSpPr>
        <p:spPr>
          <a:xfrm>
            <a:off x="374700" y="1139031"/>
            <a:ext cx="8599500" cy="344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改進重點：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斷開 Process Tree的關聯性，對抗 EDR 的溯源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避免執行 cmd 等惡意行為可以直接從 Process Tree 的親子關係抓到本體。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Used -&gt; Challenge 2 + HTTP POST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實作原理：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Targeting：取得合法的系統行程 (如 explorer.exe) 的 Handle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Attribute List：使用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InitializeProcThreadAttributeList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與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UpdateProcThreadAttribute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設定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PROC_THREAD_ATTRIBUTE_PARENT_PROCESS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屬性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Execution：呼叫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CreateProcess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時帶入 </a:t>
            </a:r>
            <a:r>
              <a:rPr lang="zh-TW" sz="1400">
                <a:solidFill>
                  <a:srgbClr val="EA9999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EXTENDED_STARTUPINFO_PRESENT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 FLAG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效果：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新產生的 Child Process 在 EDR 眼中由 explorer.exe 所啟動，而非 Malware 本體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03" name="Google Shape;603;p64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PPID Spoofing</a:t>
            </a:r>
            <a:endParaRPr sz="3000"/>
          </a:p>
        </p:txBody>
      </p:sp>
      <p:sp>
        <p:nvSpPr>
          <p:cNvPr id="604" name="Google Shape;604;p64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05" name="Google Shape;605;p64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5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PPID Spoofing</a:t>
            </a:r>
            <a:endParaRPr sz="3000"/>
          </a:p>
        </p:txBody>
      </p:sp>
      <p:sp>
        <p:nvSpPr>
          <p:cNvPr id="611" name="Google Shape;611;p65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12" name="Google Shape;612;p65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613" name="Google Shape;61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113" y="796722"/>
            <a:ext cx="5627875" cy="3797675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6"/>
          <p:cNvSpPr txBox="1"/>
          <p:nvPr>
            <p:ph idx="1" type="body"/>
          </p:nvPr>
        </p:nvSpPr>
        <p:spPr>
          <a:xfrm>
            <a:off x="374700" y="1317625"/>
            <a:ext cx="8541000" cy="31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改進重點：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隱藏網路行為特徵，避免由本體直接發起  HTTP 連線而被 EDR 探測到。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利用系統內建且受信任的工具 (Living off the Land Binaries, LOLBins) 進行資料外傳。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實作原理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Script Generation：動態生成 PowerShell 腳本，將竊取的資料以 JSON 格式 POST 到 C2 Server。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Proxy Execution：不使用 C# HttpClient，而是啟動系統內建的 powershell.exe 來執行該腳本。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Combination：結合 PPID Spoofing，讓這支 PowerShell 看起來是由 explorer.exe 啟動的合法背景程序。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效果：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網路流量看起來源自於微軟簽章的 powershell.exe，或父程序 -&gt; explorer.exe，比較可信，也比較難將請求歸咎於本體。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19" name="Google Shape;619;p66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Hide Post Request</a:t>
            </a:r>
            <a:endParaRPr sz="3000"/>
          </a:p>
        </p:txBody>
      </p:sp>
      <p:sp>
        <p:nvSpPr>
          <p:cNvPr id="620" name="Google Shape;620;p66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21" name="Google Shape;621;p6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7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Hide Post Request</a:t>
            </a:r>
            <a:endParaRPr sz="3000"/>
          </a:p>
        </p:txBody>
      </p:sp>
      <p:sp>
        <p:nvSpPr>
          <p:cNvPr id="627" name="Google Shape;627;p67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28" name="Google Shape;628;p6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629" name="Google Shape;62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9200" y="903000"/>
            <a:ext cx="4911700" cy="3638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8"/>
          <p:cNvSpPr txBox="1"/>
          <p:nvPr>
            <p:ph idx="1" type="body"/>
          </p:nvPr>
        </p:nvSpPr>
        <p:spPr>
          <a:xfrm>
            <a:off x="374700" y="990203"/>
            <a:ext cx="8541000" cy="44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改進重點：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混淆視聽：利用大量的誘餌行程填滿 Process List，稀釋單一惡意程式的存在感，騙 EDR 隨便抓一個提交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角色分離：將執行惡意邏輯 (如讀檔) 與保存與回傳 Flag的職責分開。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實作原理：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Sacrificial Lambs：程式啟動時，會隨機生成多個名稱顯眼 (如 BOMBE_EDR_FLAG_XV3K...exe) 的誘餌。</a:t>
            </a:r>
            <a:b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</a:b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角色區分：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真身 (RuntimeBroker)：偽裝成系統背景程式，進入 Silent Mode。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誘餌 (Decoys)：故意執行檔案複製等行為來觸發 EDR 的感知，但利用 PPID Spoofing 讓判斷 Parent Process 時產生 EDR 的邏輯矛盾 (有惡意行為但 Parent 看起來很正常)，或是直接不判就抓誘餌。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效果：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EDR 會被大量產生的誘餌與雜訊干擾，而忽略了真正躲藏在暗處延遲運作的 RuntimeBroker.exe。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Urbanist Light"/>
              <a:buChar char="○"/>
            </a:pPr>
            <a:r>
              <a:t/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35" name="Google Shape;635;p68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Decoy Spawning</a:t>
            </a:r>
            <a:endParaRPr sz="3000"/>
          </a:p>
        </p:txBody>
      </p:sp>
      <p:sp>
        <p:nvSpPr>
          <p:cNvPr id="636" name="Google Shape;636;p68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37" name="Google Shape;637;p6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9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Decoy Spawning</a:t>
            </a:r>
            <a:endParaRPr sz="3000"/>
          </a:p>
        </p:txBody>
      </p:sp>
      <p:sp>
        <p:nvSpPr>
          <p:cNvPr id="643" name="Google Shape;643;p69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44" name="Google Shape;644;p69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645" name="Google Shape;64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307" y="903000"/>
            <a:ext cx="4081385" cy="36387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0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</a:t>
            </a:r>
            <a:r>
              <a:rPr lang="zh-TW" sz="3000"/>
              <a:t>Decoy Spawning</a:t>
            </a:r>
            <a:endParaRPr sz="3000"/>
          </a:p>
        </p:txBody>
      </p:sp>
      <p:sp>
        <p:nvSpPr>
          <p:cNvPr id="651" name="Google Shape;651;p70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52" name="Google Shape;652;p70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653" name="Google Shape;65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262" y="903000"/>
            <a:ext cx="4705476" cy="36387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1"/>
          <p:cNvSpPr txBox="1"/>
          <p:nvPr>
            <p:ph type="title"/>
          </p:nvPr>
        </p:nvSpPr>
        <p:spPr>
          <a:xfrm>
            <a:off x="359375" y="99250"/>
            <a:ext cx="87846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Malware Ranking (Dynamic) - Decoy Spawning</a:t>
            </a:r>
            <a:endParaRPr sz="3000"/>
          </a:p>
        </p:txBody>
      </p:sp>
      <p:sp>
        <p:nvSpPr>
          <p:cNvPr id="659" name="Google Shape;659;p71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60" name="Google Shape;660;p71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pic>
        <p:nvPicPr>
          <p:cNvPr id="661" name="Google Shape;661;p71"/>
          <p:cNvPicPr preferRelativeResize="0"/>
          <p:nvPr/>
        </p:nvPicPr>
        <p:blipFill rotWithShape="1">
          <a:blip r:embed="rId3">
            <a:alphaModFix/>
          </a:blip>
          <a:srcRect b="12010" l="0" r="744" t="0"/>
          <a:stretch/>
        </p:blipFill>
        <p:spPr>
          <a:xfrm>
            <a:off x="734588" y="848300"/>
            <a:ext cx="7580925" cy="36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2"/>
          <p:cNvSpPr txBox="1"/>
          <p:nvPr>
            <p:ph idx="1" type="body"/>
          </p:nvPr>
        </p:nvSpPr>
        <p:spPr>
          <a:xfrm>
            <a:off x="374700" y="1317625"/>
            <a:ext cx="8539500" cy="28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175300" lvl="0" marL="316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透過這次的專題實際體會到了真實的紅藍攻防，讓我們了解到資安攻防是一個持續對抗與修正的過程，在挑戰題中我們學會了如何根據對方程式的手法，規劃出因應的策略，來加強自己的程式，而在在排名賽中時刻關注自己的排名狀況，透過不斷揣測對方攻防的手法，來持續精進自己的程式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在紅方，我們研究並實作了各種躲避偵測的技術，利用 API 動態解析與 PPID Spoofing 來斷開 EDR 的追蹤，並透過 PowerShell 代理執行與 Decoy 誘餌機制混淆防禦方的判斷，成功達成隱匿與資料竊取的任務。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  <a:p>
            <a:pPr indent="-175300" lvl="0" marL="316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Light"/>
              <a:buChar char="○"/>
            </a:pP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而在藍方我們學會了透過 parent process chain 進行行為歸因，以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尋找惡意行為來源</a:t>
            </a:r>
            <a:r>
              <a:rPr lang="zh-TW" sz="1400">
                <a:latin typeface="Urbanist Light"/>
                <a:ea typeface="Urbanist Light"/>
                <a:cs typeface="Urbanist Light"/>
                <a:sym typeface="Urbanist Light"/>
              </a:rPr>
              <a:t>，並透過監控對外 HTTPS 連線，以偵測惡意程式的上傳行為。</a:t>
            </a:r>
            <a:endParaRPr sz="14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67" name="Google Shape;667;p72"/>
          <p:cNvSpPr txBox="1"/>
          <p:nvPr>
            <p:ph type="title"/>
          </p:nvPr>
        </p:nvSpPr>
        <p:spPr>
          <a:xfrm>
            <a:off x="359375" y="99250"/>
            <a:ext cx="8927400" cy="981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專題心得</a:t>
            </a:r>
            <a:endParaRPr sz="3000"/>
          </a:p>
        </p:txBody>
      </p:sp>
      <p:sp>
        <p:nvSpPr>
          <p:cNvPr id="668" name="Google Shape;668;p72"/>
          <p:cNvSpPr txBox="1"/>
          <p:nvPr>
            <p:ph idx="5" type="subTitle"/>
          </p:nvPr>
        </p:nvSpPr>
        <p:spPr>
          <a:xfrm>
            <a:off x="341723" y="4694709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 sz="1000">
              <a:solidFill>
                <a:schemeClr val="lt1"/>
              </a:solidFill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  <p:sp>
        <p:nvSpPr>
          <p:cNvPr id="669" name="Google Shape;669;p7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 sz="1000">
              <a:latin typeface="Urbanist Light"/>
              <a:ea typeface="Urbanist Light"/>
              <a:cs typeface="Urbanist Light"/>
              <a:sym typeface="Urbanist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3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latin typeface="Urbanist Light"/>
                <a:ea typeface="Urbanist Light"/>
                <a:cs typeface="Urbanist Light"/>
                <a:sym typeface="Urbanist Light"/>
              </a:rPr>
              <a:t>2025 / 12 /19</a:t>
            </a:r>
            <a:endParaRPr/>
          </a:p>
        </p:txBody>
      </p:sp>
      <p:sp>
        <p:nvSpPr>
          <p:cNvPr id="675" name="Google Shape;675;p73"/>
          <p:cNvSpPr txBox="1"/>
          <p:nvPr>
            <p:ph idx="19" type="title"/>
          </p:nvPr>
        </p:nvSpPr>
        <p:spPr>
          <a:xfrm>
            <a:off x="377550" y="1441350"/>
            <a:ext cx="3904500" cy="72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lt1"/>
                </a:solidFill>
              </a:rPr>
              <a:t>Thank you</a:t>
            </a:r>
            <a:endParaRPr/>
          </a:p>
        </p:txBody>
      </p:sp>
      <p:sp>
        <p:nvSpPr>
          <p:cNvPr id="676" name="Google Shape;676;p73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TW" sz="1000">
                <a:solidFill>
                  <a:schemeClr val="lt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[NTNU]_[乾脆就填"想不到隊名"]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